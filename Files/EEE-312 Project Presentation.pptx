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6F02-29F4-4953-B2D9-9550E3A6C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9CA07-42D6-4EF2-83D3-6F20FF140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AAEA4-595C-4EB3-BF00-001AFDFC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4C8EA-50ED-4248-AB1A-3E8BC199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548E4-AA31-4BD9-AF7E-455F789F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1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BE0D-6B43-4168-944A-F9D05F35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CE35A-A19D-4758-80AE-F58520150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C76A9-8DBD-417F-8F09-8F67911C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4E98A-D802-453D-8E92-BB14873B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92C2A-DE30-4C17-BB19-44A85845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73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7581-AA3E-45A2-B914-AB8C3EDE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DCFA7-EE82-493B-8DAF-2F467183B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37BCF-EB96-4C01-8B5C-0E13BACC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DC1C9-9182-4E3F-8477-F2321932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122FC-753E-4FBE-B994-2C930F27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9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57DE-FFE4-4685-AA44-187498A9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35214-63B3-464C-BDA6-2796549BD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CFA23-D84F-42B5-A1BB-2BBC04C02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6D633-998E-4571-9F9F-5DC17BC9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FDD43-850E-4CF1-8C90-74613E21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1906C-C84C-42EF-987B-BBBF5BDD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9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5155-606C-4411-9434-3CE853E4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BE335-07AF-43E7-8FB9-EAE9D7E06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BECE2-71F6-496E-B575-196334358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9DE2D-00A1-49E7-812F-CF01CCB06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FC4F8-4899-4767-A72A-BCD807CBB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8A741-9CC5-421F-BBC5-65678FE3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2DC6F-22F6-4978-BB61-B8293B0C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CA34A-E5F0-49BF-BCE1-AE44B72C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37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E78A-1006-45F0-99BF-9896C9D4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EC3F4-82A2-4AFA-BC1A-5729F588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15E19-38FF-4B28-B26D-D64B8A9E6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42882-99AF-4280-B9CA-078BE152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8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787F2-4483-47E7-8282-FCD68A47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7CF27-3AC7-47BE-A707-8FF1A7C7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CD9AB-9BF4-4B38-9093-87939600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99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24FD-09D4-47F0-ADCD-8082D820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3AB7B-C6E3-4AB3-BA8A-FB6C752EF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C9127-3A0F-41FD-A6AF-39E95E7CD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1691A-224A-4A3A-A94D-44DACF2E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25B39-8450-4FEF-A1E9-0C1A3807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43FB8-90C3-4E15-9DF9-2B5CC154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1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819D-E52B-41B0-8493-834B5526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CF770-97A8-4096-90C7-29E321780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9CE96-ECB1-4B9A-9B71-59117F18E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CC289-B4D4-4E01-BF52-2C52DD93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999E0-E781-4A6C-BAB3-E0F8D28A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4EB0F-C4E3-4617-B56A-A2FB9B05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7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E92B-C579-4994-843A-FACE7AC7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D6991-8EA2-4A82-84EA-C4A50D291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7E25A-7433-4B23-A223-73774942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503A-37C0-4944-AFEE-28492DEE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3AEB-2A76-431B-B5FD-F5678B3A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4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F5211-2C9C-4FCB-AA41-3983B563A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AD911-AD1C-4F30-8F47-11AF47FF7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BE81-3D59-4AA9-830B-D5EDA79C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4FF42-831F-4C51-89D4-A38B6D0E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6EA18-41F6-4625-96DD-C82B5ACC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1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6E252-3C5B-4454-8F74-510B5732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0DC44-DC8A-4CDE-967C-C1B651EC5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218C9-3715-4B93-A085-15486930F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7CF55-72AB-4E4D-B3F4-7EF85368D348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CF6B-733A-44BB-9E6F-0880CCEF3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3435-C125-48E5-B897-612291399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9CFFE-6252-4F89-9954-F64E8FB782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6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ra of Autonomous Cars: Focus on Pedestrian Detection with Deep Learning  | SAP Conversational AI Blog">
            <a:extLst>
              <a:ext uri="{FF2B5EF4-FFF2-40B4-BE49-F238E27FC236}">
                <a16:creationId xmlns:a16="http://schemas.microsoft.com/office/drawing/2014/main" id="{79A0472F-0D58-4B87-8C85-9D2BA61F1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AutoShape 4" descr="The Era of Autonomous Cars: Focus on Pedestrian Detection with Deep Learning  | SAP Conversational AI Blog">
            <a:extLst>
              <a:ext uri="{FF2B5EF4-FFF2-40B4-BE49-F238E27FC236}">
                <a16:creationId xmlns:a16="http://schemas.microsoft.com/office/drawing/2014/main" id="{9969407F-087F-49AF-831B-73E5381AD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403F8-D8A1-4318-AD26-7079F9DCEF29}"/>
              </a:ext>
            </a:extLst>
          </p:cNvPr>
          <p:cNvSpPr txBox="1"/>
          <p:nvPr/>
        </p:nvSpPr>
        <p:spPr>
          <a:xfrm>
            <a:off x="6797799" y="395447"/>
            <a:ext cx="5154966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Barlow Condensed SemiBold" panose="00000706000000000000" pitchFamily="2" charset="0"/>
              </a:rPr>
              <a:t>Social Distance Monitoring </a:t>
            </a:r>
          </a:p>
          <a:p>
            <a:pPr algn="ctr"/>
            <a:r>
              <a:rPr lang="en-US" sz="5400" dirty="0">
                <a:latin typeface="Barlow Condensed SemiBold" panose="00000706000000000000" pitchFamily="2" charset="0"/>
              </a:rPr>
              <a:t>in Covid19 Situation</a:t>
            </a:r>
          </a:p>
          <a:p>
            <a:pPr algn="ctr"/>
            <a:endParaRPr lang="en-US" sz="5400" dirty="0">
              <a:latin typeface="Barlow Condensed SemiBold" panose="00000706000000000000" pitchFamily="2" charset="0"/>
            </a:endParaRPr>
          </a:p>
          <a:p>
            <a:pPr algn="ctr"/>
            <a:r>
              <a:rPr lang="en-US" sz="5400" dirty="0">
                <a:latin typeface="Barlow Condensed SemiBold" panose="00000706000000000000" pitchFamily="2" charset="0"/>
              </a:rPr>
              <a:t>Group 08</a:t>
            </a:r>
          </a:p>
          <a:p>
            <a:pPr algn="ctr"/>
            <a:r>
              <a:rPr lang="en-US" sz="3200" dirty="0">
                <a:latin typeface="Barlow Condensed SemiBold" panose="00000706000000000000" pitchFamily="2" charset="0"/>
              </a:rPr>
              <a:t>1706145,149,150,153,189</a:t>
            </a:r>
          </a:p>
        </p:txBody>
      </p:sp>
      <p:pic>
        <p:nvPicPr>
          <p:cNvPr id="1032" name="Picture 8" descr="covid-19: Watch your space! Physical distancing can lead to significant  reduction in Covid-19 transmission - The Economic Times">
            <a:extLst>
              <a:ext uri="{FF2B5EF4-FFF2-40B4-BE49-F238E27FC236}">
                <a16:creationId xmlns:a16="http://schemas.microsoft.com/office/drawing/2014/main" id="{D1DC1F16-D3E7-4A79-8222-CCA46E974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71" y="202707"/>
            <a:ext cx="6412787" cy="596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7892A8-0CA6-4CBF-AE81-FFEA09DE59F2}"/>
              </a:ext>
            </a:extLst>
          </p:cNvPr>
          <p:cNvSpPr/>
          <p:nvPr/>
        </p:nvSpPr>
        <p:spPr>
          <a:xfrm>
            <a:off x="1553592" y="688625"/>
            <a:ext cx="1108229" cy="216998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C4F94-0254-4C81-8203-A6FD4AA763A3}"/>
              </a:ext>
            </a:extLst>
          </p:cNvPr>
          <p:cNvSpPr/>
          <p:nvPr/>
        </p:nvSpPr>
        <p:spPr>
          <a:xfrm>
            <a:off x="4529091" y="686271"/>
            <a:ext cx="1108229" cy="216998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52108-7164-47A3-A0F5-EC58540FEC26}"/>
              </a:ext>
            </a:extLst>
          </p:cNvPr>
          <p:cNvSpPr/>
          <p:nvPr/>
        </p:nvSpPr>
        <p:spPr>
          <a:xfrm>
            <a:off x="2867487" y="1411415"/>
            <a:ext cx="1435222" cy="27522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0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625A28-79BD-4E4E-B793-940A3CA9BE2E}"/>
              </a:ext>
            </a:extLst>
          </p:cNvPr>
          <p:cNvSpPr txBox="1"/>
          <p:nvPr/>
        </p:nvSpPr>
        <p:spPr>
          <a:xfrm>
            <a:off x="695120" y="336658"/>
            <a:ext cx="844266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Project  Overview:</a:t>
            </a:r>
          </a:p>
          <a:p>
            <a:r>
              <a:rPr lang="en-US" sz="2800" b="1" u="sng" dirty="0"/>
              <a:t>Problem: </a:t>
            </a:r>
            <a:r>
              <a:rPr lang="en-US" sz="2800" dirty="0"/>
              <a:t>Human localization from image and determine distance and assuring safe distance</a:t>
            </a: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We have used deep learning approach to do this project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Used Pretrained networks and transfer learning method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Detect humans from image , localize them and measure distance between them.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If they are very close, we will be given an alert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Thus, we can assure the social distancing in covid19 situation, or any other pandemic in future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9048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9CD2E2-0EF6-4897-9123-DD4FECBB79F7}"/>
              </a:ext>
            </a:extLst>
          </p:cNvPr>
          <p:cNvSpPr txBox="1"/>
          <p:nvPr/>
        </p:nvSpPr>
        <p:spPr>
          <a:xfrm>
            <a:off x="393539" y="390617"/>
            <a:ext cx="237281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C82D5-C8D1-4EF0-B940-D55B88A18602}"/>
              </a:ext>
            </a:extLst>
          </p:cNvPr>
          <p:cNvSpPr txBox="1"/>
          <p:nvPr/>
        </p:nvSpPr>
        <p:spPr>
          <a:xfrm>
            <a:off x="4538049" y="329061"/>
            <a:ext cx="3115901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various method for this problem’s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9A6EC-C90F-49DE-83F3-1F3D11FE6C65}"/>
              </a:ext>
            </a:extLst>
          </p:cNvPr>
          <p:cNvSpPr txBox="1"/>
          <p:nvPr/>
        </p:nvSpPr>
        <p:spPr>
          <a:xfrm>
            <a:off x="3977639" y="1361513"/>
            <a:ext cx="42367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Collect and created Dataset of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5F871-21F3-4CEF-AEAA-FA20D37EBE17}"/>
              </a:ext>
            </a:extLst>
          </p:cNvPr>
          <p:cNvSpPr txBox="1"/>
          <p:nvPr/>
        </p:nvSpPr>
        <p:spPr>
          <a:xfrm>
            <a:off x="4427589" y="2172513"/>
            <a:ext cx="33368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Labelling the images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8E497-FF25-492D-801B-9280C7E47F3C}"/>
              </a:ext>
            </a:extLst>
          </p:cNvPr>
          <p:cNvSpPr txBox="1"/>
          <p:nvPr/>
        </p:nvSpPr>
        <p:spPr>
          <a:xfrm>
            <a:off x="3028745" y="3038157"/>
            <a:ext cx="613450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Using pretrained network and Yolov2 subnetwork in MATLAB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7FF4B8-EA53-46BF-8C6F-827DF62E0AFD}"/>
              </a:ext>
            </a:extLst>
          </p:cNvPr>
          <p:cNvSpPr txBox="1"/>
          <p:nvPr/>
        </p:nvSpPr>
        <p:spPr>
          <a:xfrm>
            <a:off x="3592817" y="3815022"/>
            <a:ext cx="500636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Training by different networks and training options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3BE2E-F030-4CE0-98D4-E76A6E5DCB04}"/>
              </a:ext>
            </a:extLst>
          </p:cNvPr>
          <p:cNvSpPr txBox="1"/>
          <p:nvPr/>
        </p:nvSpPr>
        <p:spPr>
          <a:xfrm>
            <a:off x="4241306" y="4634416"/>
            <a:ext cx="370938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Select best performing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63A1D-04E5-42BB-BF85-6B8FAF02DDE7}"/>
              </a:ext>
            </a:extLst>
          </p:cNvPr>
          <p:cNvSpPr txBox="1"/>
          <p:nvPr/>
        </p:nvSpPr>
        <p:spPr>
          <a:xfrm>
            <a:off x="4214673" y="6175860"/>
            <a:ext cx="376265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Determining accuracy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55FA9-A0D6-41DE-931A-DC7428B2BE78}"/>
              </a:ext>
            </a:extLst>
          </p:cNvPr>
          <p:cNvSpPr txBox="1"/>
          <p:nvPr/>
        </p:nvSpPr>
        <p:spPr>
          <a:xfrm>
            <a:off x="3863634" y="5405138"/>
            <a:ext cx="44647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Determining distance from detected people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F9254BC-71BC-4816-804A-F5D367A03B0F}"/>
              </a:ext>
            </a:extLst>
          </p:cNvPr>
          <p:cNvSpPr/>
          <p:nvPr/>
        </p:nvSpPr>
        <p:spPr>
          <a:xfrm>
            <a:off x="5968999" y="1754588"/>
            <a:ext cx="254000" cy="422811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1D62745-C8C1-4FC3-BB06-B6B7A4813874}"/>
              </a:ext>
            </a:extLst>
          </p:cNvPr>
          <p:cNvSpPr/>
          <p:nvPr/>
        </p:nvSpPr>
        <p:spPr>
          <a:xfrm>
            <a:off x="5968999" y="995487"/>
            <a:ext cx="254000" cy="330779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3255078-7A10-479D-82CA-D3A1A29A5DF3}"/>
              </a:ext>
            </a:extLst>
          </p:cNvPr>
          <p:cNvSpPr/>
          <p:nvPr/>
        </p:nvSpPr>
        <p:spPr>
          <a:xfrm>
            <a:off x="5968999" y="2614015"/>
            <a:ext cx="254000" cy="422811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A85996A-46DA-47EF-AF94-197EAB618A88}"/>
              </a:ext>
            </a:extLst>
          </p:cNvPr>
          <p:cNvSpPr/>
          <p:nvPr/>
        </p:nvSpPr>
        <p:spPr>
          <a:xfrm>
            <a:off x="5968999" y="3401261"/>
            <a:ext cx="254000" cy="422811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F7F864B-AA2A-4F1A-8933-00DBF8072D86}"/>
              </a:ext>
            </a:extLst>
          </p:cNvPr>
          <p:cNvSpPr/>
          <p:nvPr/>
        </p:nvSpPr>
        <p:spPr>
          <a:xfrm>
            <a:off x="5968999" y="4197291"/>
            <a:ext cx="254000" cy="422811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3CB398D-F55C-4F3F-A17D-7D2D8F9C8615}"/>
              </a:ext>
            </a:extLst>
          </p:cNvPr>
          <p:cNvSpPr/>
          <p:nvPr/>
        </p:nvSpPr>
        <p:spPr>
          <a:xfrm>
            <a:off x="5972784" y="4993372"/>
            <a:ext cx="246430" cy="407533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E6854829-AF85-4218-8393-2C934B41E2DF}"/>
              </a:ext>
            </a:extLst>
          </p:cNvPr>
          <p:cNvSpPr/>
          <p:nvPr/>
        </p:nvSpPr>
        <p:spPr>
          <a:xfrm>
            <a:off x="5968999" y="5774470"/>
            <a:ext cx="254000" cy="422811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4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C7954-A276-44B5-83C7-8FB0D83EA7CC}"/>
              </a:ext>
            </a:extLst>
          </p:cNvPr>
          <p:cNvSpPr txBox="1"/>
          <p:nvPr/>
        </p:nvSpPr>
        <p:spPr>
          <a:xfrm>
            <a:off x="289367" y="405113"/>
            <a:ext cx="1130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Datasets Collection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9F4D5-D5D8-48D2-ADDD-212E87AD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99" y="1157468"/>
            <a:ext cx="5259686" cy="3159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43F35F-EA84-4634-86D6-ACD064B0EF01}"/>
              </a:ext>
            </a:extLst>
          </p:cNvPr>
          <p:cNvSpPr txBox="1"/>
          <p:nvPr/>
        </p:nvSpPr>
        <p:spPr>
          <a:xfrm>
            <a:off x="196770" y="1422363"/>
            <a:ext cx="611143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We have collected some image from pedestrian video.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And also downloaded datasets from internet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There was total 814 images for our project.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496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68E74-EC5E-4330-AB8F-681F19655C69}"/>
              </a:ext>
            </a:extLst>
          </p:cNvPr>
          <p:cNvSpPr txBox="1"/>
          <p:nvPr/>
        </p:nvSpPr>
        <p:spPr>
          <a:xfrm>
            <a:off x="312516" y="370390"/>
            <a:ext cx="3669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Dataset Labeling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D2F962-2D09-4517-809B-4EA1C655D834}"/>
              </a:ext>
            </a:extLst>
          </p:cNvPr>
          <p:cNvSpPr txBox="1"/>
          <p:nvPr/>
        </p:nvSpPr>
        <p:spPr>
          <a:xfrm>
            <a:off x="179352" y="1707784"/>
            <a:ext cx="62833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dirty="0"/>
              <a:t>We have used Image labeler app of MATLAB to label our images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dirty="0"/>
              <a:t>There was only single class , named “human”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dirty="0"/>
              <a:t>After labeling , this labelled images were used as ground truth data for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E7FE5-06D3-45C2-90E3-FBD56934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124" y="1758659"/>
            <a:ext cx="5866778" cy="343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3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EE9587-20B4-44B0-A571-6F43D0752A6F}"/>
              </a:ext>
            </a:extLst>
          </p:cNvPr>
          <p:cNvSpPr txBox="1"/>
          <p:nvPr/>
        </p:nvSpPr>
        <p:spPr>
          <a:xfrm>
            <a:off x="532435" y="381965"/>
            <a:ext cx="10197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Convolutional neural Network Architecture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67557-FC5F-4741-8595-F78F9F0CCEBF}"/>
              </a:ext>
            </a:extLst>
          </p:cNvPr>
          <p:cNvSpPr txBox="1"/>
          <p:nvPr/>
        </p:nvSpPr>
        <p:spPr>
          <a:xfrm>
            <a:off x="603682" y="1109709"/>
            <a:ext cx="6223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Base network is Darknet-53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Image Input size = 256x256x3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Feature extraction layer “res14”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/>
              <a:t>Num_Class</a:t>
            </a:r>
            <a:r>
              <a:rPr lang="en-US" sz="2400" dirty="0"/>
              <a:t>=1;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/>
              <a:t>Num_anchorbox</a:t>
            </a:r>
            <a:r>
              <a:rPr lang="en-US" sz="2400" dirty="0"/>
              <a:t>=1;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14 residual block in base network.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There is many number of convolution, batch normalization, and leaky </a:t>
            </a:r>
            <a:r>
              <a:rPr lang="en-US" sz="2400" dirty="0" err="1"/>
              <a:t>relu</a:t>
            </a:r>
            <a:r>
              <a:rPr lang="en-US" sz="2400" dirty="0"/>
              <a:t> layers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Feature extraction is happening in the base network portion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AD8C5-7AE2-442D-90A2-86507998C8C7}"/>
              </a:ext>
            </a:extLst>
          </p:cNvPr>
          <p:cNvSpPr txBox="1"/>
          <p:nvPr/>
        </p:nvSpPr>
        <p:spPr>
          <a:xfrm>
            <a:off x="8975324" y="677789"/>
            <a:ext cx="160685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layer </a:t>
            </a:r>
          </a:p>
          <a:p>
            <a:pPr algn="ctr"/>
            <a:r>
              <a:rPr lang="en-US" dirty="0"/>
              <a:t>(256x256x3)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6FD0A-24A5-40EF-B98D-861500F4FF44}"/>
              </a:ext>
            </a:extLst>
          </p:cNvPr>
          <p:cNvSpPr txBox="1"/>
          <p:nvPr/>
        </p:nvSpPr>
        <p:spPr>
          <a:xfrm>
            <a:off x="8171895" y="1567841"/>
            <a:ext cx="3280299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part of full Darknet53 network</a:t>
            </a:r>
          </a:p>
          <a:p>
            <a:pPr algn="ctr"/>
            <a:r>
              <a:rPr lang="en-US" dirty="0"/>
              <a:t>114 layers</a:t>
            </a:r>
          </a:p>
          <a:p>
            <a:pPr algn="ctr"/>
            <a:r>
              <a:rPr lang="en-US" dirty="0"/>
              <a:t>(dim: 16x16x512)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39306-FE6C-46BC-8EB8-56D5FE34131C}"/>
              </a:ext>
            </a:extLst>
          </p:cNvPr>
          <p:cNvSpPr txBox="1"/>
          <p:nvPr/>
        </p:nvSpPr>
        <p:spPr>
          <a:xfrm>
            <a:off x="8171895" y="2805344"/>
            <a:ext cx="3338004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Yolov2 subnetwork</a:t>
            </a:r>
          </a:p>
          <a:p>
            <a:pPr algn="ctr"/>
            <a:r>
              <a:rPr lang="en-US" dirty="0"/>
              <a:t>8 layers</a:t>
            </a:r>
          </a:p>
          <a:p>
            <a:pPr algn="ctr"/>
            <a:r>
              <a:rPr lang="en-US" dirty="0"/>
              <a:t>(dim: 16x16x6)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E3D83-8C77-4AC0-8441-760B93D6D7F0}"/>
              </a:ext>
            </a:extLst>
          </p:cNvPr>
          <p:cNvSpPr txBox="1"/>
          <p:nvPr/>
        </p:nvSpPr>
        <p:spPr>
          <a:xfrm>
            <a:off x="8229600" y="3934573"/>
            <a:ext cx="322259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Yolov2 Output Layer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E0B3E3E-60EE-4BE2-AB4C-230C98EFE330}"/>
              </a:ext>
            </a:extLst>
          </p:cNvPr>
          <p:cNvSpPr/>
          <p:nvPr/>
        </p:nvSpPr>
        <p:spPr>
          <a:xfrm>
            <a:off x="7634797" y="1671094"/>
            <a:ext cx="461638" cy="26277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496B2-9303-4F14-88A4-CC17E915AA24}"/>
              </a:ext>
            </a:extLst>
          </p:cNvPr>
          <p:cNvSpPr txBox="1"/>
          <p:nvPr/>
        </p:nvSpPr>
        <p:spPr>
          <a:xfrm>
            <a:off x="6844684" y="2491171"/>
            <a:ext cx="79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123 Layers</a:t>
            </a:r>
          </a:p>
        </p:txBody>
      </p:sp>
    </p:spTree>
    <p:extLst>
      <p:ext uri="{BB962C8B-B14F-4D97-AF65-F5344CB8AC3E}">
        <p14:creationId xmlns:p14="http://schemas.microsoft.com/office/powerpoint/2010/main" val="380820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B091D-E3E9-4D3F-B0C5-584570206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920" y="393945"/>
            <a:ext cx="268605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17D140-50E7-4138-885E-7E3898A7A680}"/>
              </a:ext>
            </a:extLst>
          </p:cNvPr>
          <p:cNvSpPr txBox="1"/>
          <p:nvPr/>
        </p:nvSpPr>
        <p:spPr>
          <a:xfrm>
            <a:off x="622843" y="1408803"/>
            <a:ext cx="70133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In yolov2 subnetwork, there is only conv. and </a:t>
            </a:r>
            <a:r>
              <a:rPr lang="en-US" sz="2000" dirty="0" err="1"/>
              <a:t>relu</a:t>
            </a:r>
            <a:r>
              <a:rPr lang="en-US" sz="2000" dirty="0"/>
              <a:t> layer, last two layers are yolov2 transform layer and yolov2outputlayer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The features are taken from “res14” layer of darknet53, and feeds to yolov2 layers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In the subnetwork portion, yolov2 localize the object,  predict with bounding box 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Finally we got an image with detected people with bounding boxes co- ordinate, obviously after training.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A80A1-220F-43FC-A9A2-7E0D98A289EA}"/>
              </a:ext>
            </a:extLst>
          </p:cNvPr>
          <p:cNvSpPr txBox="1"/>
          <p:nvPr/>
        </p:nvSpPr>
        <p:spPr>
          <a:xfrm>
            <a:off x="720497" y="830580"/>
            <a:ext cx="417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Yolov2 Subnetwork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4CE4E-1184-4838-B0BD-23DE851175CD}"/>
              </a:ext>
            </a:extLst>
          </p:cNvPr>
          <p:cNvSpPr/>
          <p:nvPr/>
        </p:nvSpPr>
        <p:spPr>
          <a:xfrm>
            <a:off x="8882552" y="477765"/>
            <a:ext cx="773393" cy="4716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6879A-3DC6-4865-B9CE-CA187C0D3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35" y="5083243"/>
            <a:ext cx="8410575" cy="790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EC465C-38D4-4579-B97E-480D6820BCF2}"/>
              </a:ext>
            </a:extLst>
          </p:cNvPr>
          <p:cNvSpPr txBox="1"/>
          <p:nvPr/>
        </p:nvSpPr>
        <p:spPr>
          <a:xfrm>
            <a:off x="8829286" y="4363965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Yolov2 subnetwork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8FBC0-9475-48B0-A004-7EA42CD52615}"/>
              </a:ext>
            </a:extLst>
          </p:cNvPr>
          <p:cNvSpPr txBox="1"/>
          <p:nvPr/>
        </p:nvSpPr>
        <p:spPr>
          <a:xfrm>
            <a:off x="7147485" y="5946765"/>
            <a:ext cx="424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Creating yolov2 layers</a:t>
            </a:r>
          </a:p>
        </p:txBody>
      </p:sp>
    </p:spTree>
    <p:extLst>
      <p:ext uri="{BB962C8B-B14F-4D97-AF65-F5344CB8AC3E}">
        <p14:creationId xmlns:p14="http://schemas.microsoft.com/office/powerpoint/2010/main" val="152650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AD1F4-4D6D-4AA5-ADDC-0AFDD9A3B010}"/>
              </a:ext>
            </a:extLst>
          </p:cNvPr>
          <p:cNvSpPr txBox="1"/>
          <p:nvPr/>
        </p:nvSpPr>
        <p:spPr>
          <a:xfrm>
            <a:off x="411480" y="708660"/>
            <a:ext cx="649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Training the whole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EA4975-D405-417A-9078-E4F64EA88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635" y="913982"/>
            <a:ext cx="4838700" cy="2009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856018-878C-4301-BD05-47B002370963}"/>
              </a:ext>
            </a:extLst>
          </p:cNvPr>
          <p:cNvSpPr txBox="1"/>
          <p:nvPr/>
        </p:nvSpPr>
        <p:spPr>
          <a:xfrm>
            <a:off x="449580" y="1918870"/>
            <a:ext cx="51358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Training data: 730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Validation data: 50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Test data: 24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Optimizer: ‘ADAM’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Mini batch size = 16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Total epochs =20;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At first stage training, training loss was 0.3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And validation loss was 0.5 ~ 0.6.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14A77-1806-40D2-BF93-ABEFEAA8F02F}"/>
              </a:ext>
            </a:extLst>
          </p:cNvPr>
          <p:cNvSpPr txBox="1"/>
          <p:nvPr/>
        </p:nvSpPr>
        <p:spPr>
          <a:xfrm>
            <a:off x="411480" y="1454973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1</a:t>
            </a:r>
            <a:r>
              <a:rPr lang="en-US" b="1" u="sng" baseline="30000" dirty="0"/>
              <a:t>st</a:t>
            </a:r>
            <a:r>
              <a:rPr lang="en-US" b="1" u="sng" dirty="0"/>
              <a:t> stage training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35B7E-0FC7-4C14-BB0A-68D694CE2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993" y="4126229"/>
            <a:ext cx="7505700" cy="666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80E92-12B5-4500-A18C-54237BE3B227}"/>
              </a:ext>
            </a:extLst>
          </p:cNvPr>
          <p:cNvSpPr txBox="1"/>
          <p:nvPr/>
        </p:nvSpPr>
        <p:spPr>
          <a:xfrm>
            <a:off x="7849416" y="3073032"/>
            <a:ext cx="239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options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60CFB-C6DF-4614-8AE7-987C5C5EAC16}"/>
              </a:ext>
            </a:extLst>
          </p:cNvPr>
          <p:cNvSpPr txBox="1"/>
          <p:nvPr/>
        </p:nvSpPr>
        <p:spPr>
          <a:xfrm>
            <a:off x="7602320" y="4946450"/>
            <a:ext cx="379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command</a:t>
            </a:r>
          </a:p>
        </p:txBody>
      </p:sp>
    </p:spTree>
    <p:extLst>
      <p:ext uri="{BB962C8B-B14F-4D97-AF65-F5344CB8AC3E}">
        <p14:creationId xmlns:p14="http://schemas.microsoft.com/office/powerpoint/2010/main" val="51837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1B365-6F77-45C0-B787-9586298E0B6B}"/>
              </a:ext>
            </a:extLst>
          </p:cNvPr>
          <p:cNvSpPr txBox="1"/>
          <p:nvPr/>
        </p:nvSpPr>
        <p:spPr>
          <a:xfrm>
            <a:off x="615667" y="2690336"/>
            <a:ext cx="5135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Optimizer: ‘ADAM’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Mini batch size = 16 images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Total epochs =5;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 this case loss was decreased slightly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Finally , we got our detector.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Which can be directly used for detect human in an image or video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9BAD5-0512-424B-A5B3-9A4DCF916303}"/>
              </a:ext>
            </a:extLst>
          </p:cNvPr>
          <p:cNvSpPr txBox="1"/>
          <p:nvPr/>
        </p:nvSpPr>
        <p:spPr>
          <a:xfrm>
            <a:off x="544646" y="2139591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2</a:t>
            </a:r>
            <a:r>
              <a:rPr lang="en-US" b="1" u="sng" baseline="30000" dirty="0"/>
              <a:t>nd</a:t>
            </a:r>
            <a:r>
              <a:rPr lang="en-US" b="1" u="sng" dirty="0"/>
              <a:t> stage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3550B-A0E2-4ED1-8EF4-810348099B41}"/>
              </a:ext>
            </a:extLst>
          </p:cNvPr>
          <p:cNvSpPr txBox="1"/>
          <p:nvPr/>
        </p:nvSpPr>
        <p:spPr>
          <a:xfrm>
            <a:off x="411480" y="708660"/>
            <a:ext cx="649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Training the whole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E8A08-381B-4941-94EC-DFBC16BA5DFE}"/>
              </a:ext>
            </a:extLst>
          </p:cNvPr>
          <p:cNvSpPr txBox="1"/>
          <p:nvPr/>
        </p:nvSpPr>
        <p:spPr>
          <a:xfrm>
            <a:off x="411480" y="1553592"/>
            <a:ext cx="641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improvement, we have trained the detector again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D05C2C-E26B-44C5-A495-DCCC2845B1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020"/>
          <a:stretch/>
        </p:blipFill>
        <p:spPr>
          <a:xfrm>
            <a:off x="6440455" y="603711"/>
            <a:ext cx="5327333" cy="2638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325F6D-29DC-4D61-8CD7-B13D105C8B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5" r="4085"/>
          <a:stretch/>
        </p:blipFill>
        <p:spPr>
          <a:xfrm>
            <a:off x="5379868" y="3625403"/>
            <a:ext cx="6636465" cy="866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C56283-9FB7-46A3-8359-DB25D9657BE1}"/>
              </a:ext>
            </a:extLst>
          </p:cNvPr>
          <p:cNvSpPr txBox="1"/>
          <p:nvPr/>
        </p:nvSpPr>
        <p:spPr>
          <a:xfrm>
            <a:off x="8209368" y="2986181"/>
            <a:ext cx="239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options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7EC05-94A0-4172-986D-48835CB8D9EA}"/>
              </a:ext>
            </a:extLst>
          </p:cNvPr>
          <p:cNvSpPr txBox="1"/>
          <p:nvPr/>
        </p:nvSpPr>
        <p:spPr>
          <a:xfrm>
            <a:off x="7778246" y="4597933"/>
            <a:ext cx="379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en-US" b="1" baseline="30000" dirty="0"/>
              <a:t>nd</a:t>
            </a:r>
            <a:r>
              <a:rPr lang="en-US" b="1" dirty="0"/>
              <a:t> stage training command</a:t>
            </a:r>
          </a:p>
        </p:txBody>
      </p:sp>
    </p:spTree>
    <p:extLst>
      <p:ext uri="{BB962C8B-B14F-4D97-AF65-F5344CB8AC3E}">
        <p14:creationId xmlns:p14="http://schemas.microsoft.com/office/powerpoint/2010/main" val="3836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AE95D9-72B8-4FC8-88F6-B0AF12F80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06" y="567720"/>
            <a:ext cx="11545388" cy="57225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C1D9CE-EA15-4BCA-891C-FD2944367FA7}"/>
              </a:ext>
            </a:extLst>
          </p:cNvPr>
          <p:cNvSpPr txBox="1"/>
          <p:nvPr/>
        </p:nvSpPr>
        <p:spPr>
          <a:xfrm>
            <a:off x="5021802" y="106055"/>
            <a:ext cx="2148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Training Curve</a:t>
            </a:r>
          </a:p>
        </p:txBody>
      </p:sp>
    </p:spTree>
    <p:extLst>
      <p:ext uri="{BB962C8B-B14F-4D97-AF65-F5344CB8AC3E}">
        <p14:creationId xmlns:p14="http://schemas.microsoft.com/office/powerpoint/2010/main" val="154766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C81E6-0C04-45E4-A089-079A3276E324}"/>
              </a:ext>
            </a:extLst>
          </p:cNvPr>
          <p:cNvSpPr txBox="1"/>
          <p:nvPr/>
        </p:nvSpPr>
        <p:spPr>
          <a:xfrm>
            <a:off x="807868" y="301841"/>
            <a:ext cx="2592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Detection</a:t>
            </a:r>
            <a:endParaRPr lang="en-US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8CF9E-65DE-4C99-98E9-C5229A9532D5}"/>
              </a:ext>
            </a:extLst>
          </p:cNvPr>
          <p:cNvSpPr txBox="1"/>
          <p:nvPr/>
        </p:nvSpPr>
        <p:spPr>
          <a:xfrm>
            <a:off x="497150" y="1207363"/>
            <a:ext cx="5690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detector is able to detect persons from images</a:t>
            </a:r>
          </a:p>
          <a:p>
            <a:r>
              <a:rPr lang="en-US" dirty="0"/>
              <a:t>Both man, woman, children also.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6B36E-7BDD-4BE6-852E-54916167C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180" y="1339966"/>
            <a:ext cx="4057651" cy="32337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61F7E3-33B3-4A09-94A5-DA3647115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30" y="2726016"/>
            <a:ext cx="5424810" cy="1589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A3DFDD-201C-4AF8-8E37-E09916D48E0C}"/>
              </a:ext>
            </a:extLst>
          </p:cNvPr>
          <p:cNvSpPr txBox="1"/>
          <p:nvPr/>
        </p:nvSpPr>
        <p:spPr>
          <a:xfrm>
            <a:off x="878889" y="2257264"/>
            <a:ext cx="268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Command for detection</a:t>
            </a:r>
          </a:p>
        </p:txBody>
      </p:sp>
    </p:spTree>
    <p:extLst>
      <p:ext uri="{BB962C8B-B14F-4D97-AF65-F5344CB8AC3E}">
        <p14:creationId xmlns:p14="http://schemas.microsoft.com/office/powerpoint/2010/main" val="1467237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89498-A00D-464B-832B-C0BE76B519A2}"/>
              </a:ext>
            </a:extLst>
          </p:cNvPr>
          <p:cNvSpPr txBox="1"/>
          <p:nvPr/>
        </p:nvSpPr>
        <p:spPr>
          <a:xfrm>
            <a:off x="399494" y="292963"/>
            <a:ext cx="9303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Determining the distance and marking as people safe or alert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3C0BC-C0BE-435D-B059-00933AA8ED43}"/>
              </a:ext>
            </a:extLst>
          </p:cNvPr>
          <p:cNvSpPr txBox="1"/>
          <p:nvPr/>
        </p:nvSpPr>
        <p:spPr>
          <a:xfrm>
            <a:off x="292963" y="1127464"/>
            <a:ext cx="624100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Firstly detects all humans from image, with bounding box coordinate,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Then , determines the center of all bounding box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Next, determine the distance between all centers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If any distance crossed the threshold distance, the bounding box will be shown in red color, which means “alert signal”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Otherwise, the bounding box will be shown as green color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We can calibrate the threshold distance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D99D5-389B-4702-8050-80079658D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83" y="1355793"/>
            <a:ext cx="5521954" cy="3984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90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595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Aharoni</vt:lpstr>
      <vt:lpstr>Arial</vt:lpstr>
      <vt:lpstr>Barlow Condensed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1706149 - Sanath Kumar Das</dc:creator>
  <cp:lastModifiedBy>Saha, Joy</cp:lastModifiedBy>
  <cp:revision>13</cp:revision>
  <dcterms:created xsi:type="dcterms:W3CDTF">2021-07-27T08:36:33Z</dcterms:created>
  <dcterms:modified xsi:type="dcterms:W3CDTF">2025-12-24T23:58:47Z</dcterms:modified>
</cp:coreProperties>
</file>