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60" r:id="rId4"/>
    <p:sldId id="259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6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46F02-29F4-4953-B2D9-9550E3A6C0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09CA07-42D6-4EF2-83D3-6F20FF1408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DAAEA4-595C-4EB3-BF00-001AFDFCA2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97CF55-72AB-4E4D-B3F4-7EF85368D348}" type="datetimeFigureOut">
              <a:rPr lang="en-US" smtClean="0"/>
              <a:t>12/24/2025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54C8EA-50ED-4248-AB1A-3E8BC199D9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D548E4-AA31-4BD9-AF7E-455F789F8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9CFFE-6252-4F89-9954-F64E8FB7825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0518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EBE0D-6B43-4168-944A-F9D05F35D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FCE35A-A19D-4758-80AE-F58520150A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BC76A9-8DBD-417F-8F09-8F67911C61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97CF55-72AB-4E4D-B3F4-7EF85368D348}" type="datetimeFigureOut">
              <a:rPr lang="en-US" smtClean="0"/>
              <a:t>12/24/2025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14E98A-D802-453D-8E92-BB14873B1C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892C2A-DE30-4C17-BB19-44A858456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9CFFE-6252-4F89-9954-F64E8FB7825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37378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07581-AA3E-45A2-B914-AB8C3EDE8B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1DCFA7-EE82-493B-8DAF-2F467183BB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937BCF-EB96-4C01-8B5C-0E13BACC21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97CF55-72AB-4E4D-B3F4-7EF85368D348}" type="datetimeFigureOut">
              <a:rPr lang="en-US" smtClean="0"/>
              <a:t>12/24/2025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1DC1C9-9182-4E3F-8477-F232193249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B122FC-753E-4FBE-B994-2C930F274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9CFFE-6252-4F89-9954-F64E8FB7825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64969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C57DE-FFE4-4685-AA44-187498A9B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935214-63B3-464C-BDA6-2796549BDB1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CCFA23-D84F-42B5-A1BB-2BBC04C02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76D633-998E-4571-9F9F-5DC17BC92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97CF55-72AB-4E4D-B3F4-7EF85368D348}" type="datetimeFigureOut">
              <a:rPr lang="en-US" smtClean="0"/>
              <a:t>12/24/2025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5FDD43-850E-4CF1-8C90-74613E210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91906C-C84C-42EF-987B-BBBF5BDD6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9CFFE-6252-4F89-9954-F64E8FB7825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68959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D35155-606C-4411-9434-3CE853E42A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8BE335-07AF-43E7-8FB9-EAE9D7E066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EBECE2-71F6-496E-B575-196334358F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E9DE2D-00A1-49E7-812F-CF01CCB06E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80FC4F8-4899-4767-A72A-BCD807CBB7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B48A741-9CC5-421F-BBC5-65678FE30A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97CF55-72AB-4E4D-B3F4-7EF85368D348}" type="datetimeFigureOut">
              <a:rPr lang="en-US" smtClean="0"/>
              <a:t>12/24/2025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D62DC6F-22F6-4978-BB61-B8293B0C9F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A5CA34A-E5F0-49BF-BCE1-AE44B72CE7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9CFFE-6252-4F89-9954-F64E8FB7825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63710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6E78A-1006-45F0-99BF-9896C9D43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CEC3F4-82A2-4AFA-BC1A-5729F5882B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97CF55-72AB-4E4D-B3F4-7EF85368D348}" type="datetimeFigureOut">
              <a:rPr lang="en-US" smtClean="0"/>
              <a:t>12/24/2025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415E19-38FF-4B28-B26D-D64B8A9E6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242882-99AF-4280-B9CA-078BE1525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9CFFE-6252-4F89-9954-F64E8FB7825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68841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8787F2-4483-47E7-8282-FCD68A472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97CF55-72AB-4E4D-B3F4-7EF85368D348}" type="datetimeFigureOut">
              <a:rPr lang="en-US" smtClean="0"/>
              <a:t>12/24/2025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4A7CF27-3AC7-47BE-A707-8FF1A7C7A1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2CD9AB-9BF4-4B38-9093-879396002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9CFFE-6252-4F89-9954-F64E8FB7825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89986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6324FD-09D4-47F0-ADCD-8082D820DF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D3AB7B-C6E3-4AB3-BA8A-FB6C752EF6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DC9127-3A0F-41FD-A6AF-39E95E7CD2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01691A-224A-4A3A-A94D-44DACF2E44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97CF55-72AB-4E4D-B3F4-7EF85368D348}" type="datetimeFigureOut">
              <a:rPr lang="en-US" smtClean="0"/>
              <a:t>12/24/2025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925B39-8450-4FEF-A1E9-0C1A380709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243FB8-90C3-4E15-9DF9-2B5CC154C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9CFFE-6252-4F89-9954-F64E8FB7825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01144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A819D-E52B-41B0-8493-834B55262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32CF770-97A8-4096-90C7-29E321780E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D9CE96-ECB1-4B9A-9B71-59117F18E6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FCC289-B4D4-4E01-BF52-2C52DD9399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97CF55-72AB-4E4D-B3F4-7EF85368D348}" type="datetimeFigureOut">
              <a:rPr lang="en-US" smtClean="0"/>
              <a:t>12/24/2025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D999E0-E781-4A6C-BAB3-E0F8D28A0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94EB0F-C4E3-4617-B56A-A2FB9B056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9CFFE-6252-4F89-9954-F64E8FB7825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4872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CE92B-C579-4994-843A-FACE7AC7F5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8D6991-8EA2-4A82-84EA-C4A50D291C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C7E25A-7433-4B23-A223-73774942E8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97CF55-72AB-4E4D-B3F4-7EF85368D348}" type="datetimeFigureOut">
              <a:rPr lang="en-US" smtClean="0"/>
              <a:t>12/24/2025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08503A-37C0-4944-AFEE-28492DEE7E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C23AEB-2A76-431B-B5FD-F5678B3AA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9CFFE-6252-4F89-9954-F64E8FB7825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50463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FBF5211-2C9C-4FCB-AA41-3983B563A24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40AD911-AD1C-4F30-8F47-11AF47FF7B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BBBE81-3D59-4AA9-830B-D5EDA79CC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97CF55-72AB-4E4D-B3F4-7EF85368D348}" type="datetimeFigureOut">
              <a:rPr lang="en-US" smtClean="0"/>
              <a:t>12/24/2025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E4FF42-831F-4C51-89D4-A38B6D0EAC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16EA18-41F6-4625-96DD-C82B5ACC8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9CFFE-6252-4F89-9954-F64E8FB7825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20170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516E252-3C5B-4454-8F74-510B573258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40DC44-DC8A-4CDE-967C-C1B651EC5F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7218C9-3715-4B93-A085-15486930F2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97CF55-72AB-4E4D-B3F4-7EF85368D348}" type="datetimeFigureOut">
              <a:rPr lang="en-US" smtClean="0"/>
              <a:t>12/24/2025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4CCF6B-733A-44BB-9E6F-0880CCEF3E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723435-C125-48E5-B897-612291399C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F9CFFE-6252-4F89-9954-F64E8FB7825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73695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 descr="The Era of Autonomous Cars: Focus on Pedestrian Detection with Deep Learning  | SAP Conversational AI Blog">
            <a:extLst>
              <a:ext uri="{FF2B5EF4-FFF2-40B4-BE49-F238E27FC236}">
                <a16:creationId xmlns:a16="http://schemas.microsoft.com/office/drawing/2014/main" id="{79A0472F-0D58-4B87-8C85-9D2BA61F1C2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dirty="0"/>
          </a:p>
        </p:txBody>
      </p:sp>
      <p:sp>
        <p:nvSpPr>
          <p:cNvPr id="3" name="AutoShape 4" descr="The Era of Autonomous Cars: Focus on Pedestrian Detection with Deep Learning  | SAP Conversational AI Blog">
            <a:extLst>
              <a:ext uri="{FF2B5EF4-FFF2-40B4-BE49-F238E27FC236}">
                <a16:creationId xmlns:a16="http://schemas.microsoft.com/office/drawing/2014/main" id="{9969407F-087F-49AF-831B-73E5381AD71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C403F8-D8A1-4318-AD26-7079F9DCEF29}"/>
              </a:ext>
            </a:extLst>
          </p:cNvPr>
          <p:cNvSpPr txBox="1"/>
          <p:nvPr/>
        </p:nvSpPr>
        <p:spPr>
          <a:xfrm>
            <a:off x="6797799" y="395447"/>
            <a:ext cx="5154966" cy="47397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latin typeface="Barlow Condensed SemiBold" panose="00000706000000000000" pitchFamily="2" charset="0"/>
              </a:rPr>
              <a:t>Social Distance Monitoring </a:t>
            </a:r>
          </a:p>
          <a:p>
            <a:pPr algn="ctr"/>
            <a:r>
              <a:rPr lang="en-US" sz="5400" dirty="0">
                <a:latin typeface="Barlow Condensed SemiBold" panose="00000706000000000000" pitchFamily="2" charset="0"/>
              </a:rPr>
              <a:t>in Covid19 Situation</a:t>
            </a:r>
          </a:p>
          <a:p>
            <a:pPr algn="ctr"/>
            <a:endParaRPr lang="en-US" sz="5400" dirty="0">
              <a:latin typeface="Barlow Condensed SemiBold" panose="00000706000000000000" pitchFamily="2" charset="0"/>
            </a:endParaRPr>
          </a:p>
          <a:p>
            <a:pPr algn="ctr"/>
            <a:r>
              <a:rPr lang="en-US" sz="5400" dirty="0">
                <a:latin typeface="Barlow Condensed SemiBold" panose="00000706000000000000" pitchFamily="2" charset="0"/>
              </a:rPr>
              <a:t>Group 08</a:t>
            </a:r>
          </a:p>
          <a:p>
            <a:pPr algn="ctr"/>
            <a:r>
              <a:rPr lang="en-US" sz="3200" dirty="0">
                <a:latin typeface="Barlow Condensed SemiBold" panose="00000706000000000000" pitchFamily="2" charset="0"/>
              </a:rPr>
              <a:t>1706145,149,150,153,189</a:t>
            </a:r>
          </a:p>
        </p:txBody>
      </p:sp>
      <p:pic>
        <p:nvPicPr>
          <p:cNvPr id="1032" name="Picture 8" descr="covid-19: Watch your space! Physical distancing can lead to significant  reduction in Covid-19 transmission - The Economic Times">
            <a:extLst>
              <a:ext uri="{FF2B5EF4-FFF2-40B4-BE49-F238E27FC236}">
                <a16:creationId xmlns:a16="http://schemas.microsoft.com/office/drawing/2014/main" id="{D1DC1F16-D3E7-4A79-8222-CCA46E9744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471" y="202707"/>
            <a:ext cx="6412787" cy="5966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F7892A8-0CA6-4CBF-AE81-FFEA09DE59F2}"/>
              </a:ext>
            </a:extLst>
          </p:cNvPr>
          <p:cNvSpPr/>
          <p:nvPr/>
        </p:nvSpPr>
        <p:spPr>
          <a:xfrm>
            <a:off x="1553592" y="688625"/>
            <a:ext cx="1108229" cy="2169985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7EC4F94-0254-4C81-8203-A6FD4AA763A3}"/>
              </a:ext>
            </a:extLst>
          </p:cNvPr>
          <p:cNvSpPr/>
          <p:nvPr/>
        </p:nvSpPr>
        <p:spPr>
          <a:xfrm>
            <a:off x="4529091" y="686271"/>
            <a:ext cx="1108229" cy="2169985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C152108-7164-47A3-A0F5-EC58540FEC26}"/>
              </a:ext>
            </a:extLst>
          </p:cNvPr>
          <p:cNvSpPr/>
          <p:nvPr/>
        </p:nvSpPr>
        <p:spPr>
          <a:xfrm>
            <a:off x="2867487" y="1411415"/>
            <a:ext cx="1435222" cy="275221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46037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6625A28-79BD-4E4E-B793-940A3CA9BE2E}"/>
              </a:ext>
            </a:extLst>
          </p:cNvPr>
          <p:cNvSpPr txBox="1"/>
          <p:nvPr/>
        </p:nvSpPr>
        <p:spPr>
          <a:xfrm>
            <a:off x="695120" y="336658"/>
            <a:ext cx="8442665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u="sng" dirty="0"/>
              <a:t>Project  Overview:</a:t>
            </a:r>
          </a:p>
          <a:p>
            <a:r>
              <a:rPr lang="en-US" sz="2800" b="1" u="sng" dirty="0"/>
              <a:t>Problem: </a:t>
            </a:r>
            <a:r>
              <a:rPr lang="en-US" sz="2800" dirty="0"/>
              <a:t>Human localization from image and determine distance and assuring safe distance</a:t>
            </a:r>
            <a:endParaRPr lang="en-US" sz="2800" b="1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2800" dirty="0"/>
              <a:t>We have used deep learning approach to do this project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2800" dirty="0"/>
              <a:t>Used Pretrained networks and transfer learning method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2800" dirty="0"/>
              <a:t>Detect humans from image , localize them and measure distance between them.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2800" dirty="0"/>
              <a:t>If they are very close, we will be given an alert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2800" dirty="0"/>
              <a:t>Thus, we can assure the social distancing in covid19 situation, or any other pandemic in future</a:t>
            </a:r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7904829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A9CD2E2-0EF6-4897-9123-DD4FECBB79F7}"/>
              </a:ext>
            </a:extLst>
          </p:cNvPr>
          <p:cNvSpPr txBox="1"/>
          <p:nvPr/>
        </p:nvSpPr>
        <p:spPr>
          <a:xfrm>
            <a:off x="393539" y="390617"/>
            <a:ext cx="2372810" cy="584775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Aharoni" panose="02010803020104030203" pitchFamily="2" charset="-79"/>
                <a:cs typeface="Aharoni" panose="02010803020104030203" pitchFamily="2" charset="-79"/>
              </a:rPr>
              <a:t>Workflow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BC82D5-C8D1-4EF0-B940-D55B88A18602}"/>
              </a:ext>
            </a:extLst>
          </p:cNvPr>
          <p:cNvSpPr txBox="1"/>
          <p:nvPr/>
        </p:nvSpPr>
        <p:spPr>
          <a:xfrm>
            <a:off x="4538049" y="329061"/>
            <a:ext cx="3115901" cy="646331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Check various method for this problem’s solution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A9A6EC-C90F-49DE-83F3-1F3D11FE6C65}"/>
              </a:ext>
            </a:extLst>
          </p:cNvPr>
          <p:cNvSpPr txBox="1"/>
          <p:nvPr/>
        </p:nvSpPr>
        <p:spPr>
          <a:xfrm>
            <a:off x="3977639" y="1361513"/>
            <a:ext cx="4236720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Collect and created Dataset of images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A5F871-21F3-4CEF-AEAA-FA20D37EBE17}"/>
              </a:ext>
            </a:extLst>
          </p:cNvPr>
          <p:cNvSpPr txBox="1"/>
          <p:nvPr/>
        </p:nvSpPr>
        <p:spPr>
          <a:xfrm>
            <a:off x="4427589" y="2172513"/>
            <a:ext cx="3336820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Labelling the images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58E497-FF25-492D-801B-9280C7E47F3C}"/>
              </a:ext>
            </a:extLst>
          </p:cNvPr>
          <p:cNvSpPr txBox="1"/>
          <p:nvPr/>
        </p:nvSpPr>
        <p:spPr>
          <a:xfrm>
            <a:off x="3028745" y="3038157"/>
            <a:ext cx="6134508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Using pretrained network and Yolov2 subnetwork in MATLAB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B7FF4B8-EA53-46BF-8C6F-827DF62E0AFD}"/>
              </a:ext>
            </a:extLst>
          </p:cNvPr>
          <p:cNvSpPr txBox="1"/>
          <p:nvPr/>
        </p:nvSpPr>
        <p:spPr>
          <a:xfrm>
            <a:off x="3592817" y="3815022"/>
            <a:ext cx="5006365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Training by different networks and training options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C3BE2E-F030-4CE0-98D4-E76A6E5DCB04}"/>
              </a:ext>
            </a:extLst>
          </p:cNvPr>
          <p:cNvSpPr txBox="1"/>
          <p:nvPr/>
        </p:nvSpPr>
        <p:spPr>
          <a:xfrm>
            <a:off x="4241306" y="4634416"/>
            <a:ext cx="3709387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Select best performing model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0763A1D-04E5-42BB-BF85-6B8FAF02DDE7}"/>
              </a:ext>
            </a:extLst>
          </p:cNvPr>
          <p:cNvSpPr txBox="1"/>
          <p:nvPr/>
        </p:nvSpPr>
        <p:spPr>
          <a:xfrm>
            <a:off x="4214673" y="6175860"/>
            <a:ext cx="3762653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Determining accuracy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C55FA9-A0D6-41DE-931A-DC7428B2BE78}"/>
              </a:ext>
            </a:extLst>
          </p:cNvPr>
          <p:cNvSpPr txBox="1"/>
          <p:nvPr/>
        </p:nvSpPr>
        <p:spPr>
          <a:xfrm>
            <a:off x="3863634" y="5405138"/>
            <a:ext cx="4464730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Determining distance from detected people</a:t>
            </a:r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AF9254BC-71BC-4816-804A-F5D367A03B0F}"/>
              </a:ext>
            </a:extLst>
          </p:cNvPr>
          <p:cNvSpPr/>
          <p:nvPr/>
        </p:nvSpPr>
        <p:spPr>
          <a:xfrm>
            <a:off x="5968999" y="1754588"/>
            <a:ext cx="254000" cy="422811"/>
          </a:xfrm>
          <a:prstGeom prst="downArrow">
            <a:avLst/>
          </a:prstGeom>
          <a:solidFill>
            <a:schemeClr val="accent4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C1D62745-C8C1-4FC3-BB06-B6B7A4813874}"/>
              </a:ext>
            </a:extLst>
          </p:cNvPr>
          <p:cNvSpPr/>
          <p:nvPr/>
        </p:nvSpPr>
        <p:spPr>
          <a:xfrm>
            <a:off x="5968999" y="995487"/>
            <a:ext cx="254000" cy="330779"/>
          </a:xfrm>
          <a:prstGeom prst="downArrow">
            <a:avLst/>
          </a:prstGeom>
          <a:solidFill>
            <a:schemeClr val="accent4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03255078-7A10-479D-82CA-D3A1A29A5DF3}"/>
              </a:ext>
            </a:extLst>
          </p:cNvPr>
          <p:cNvSpPr/>
          <p:nvPr/>
        </p:nvSpPr>
        <p:spPr>
          <a:xfrm>
            <a:off x="5968999" y="2614015"/>
            <a:ext cx="254000" cy="422811"/>
          </a:xfrm>
          <a:prstGeom prst="downArrow">
            <a:avLst/>
          </a:prstGeom>
          <a:solidFill>
            <a:schemeClr val="accent4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FA85996A-46DA-47EF-AF94-197EAB618A88}"/>
              </a:ext>
            </a:extLst>
          </p:cNvPr>
          <p:cNvSpPr/>
          <p:nvPr/>
        </p:nvSpPr>
        <p:spPr>
          <a:xfrm>
            <a:off x="5968999" y="3401261"/>
            <a:ext cx="254000" cy="422811"/>
          </a:xfrm>
          <a:prstGeom prst="downArrow">
            <a:avLst/>
          </a:prstGeom>
          <a:solidFill>
            <a:schemeClr val="accent4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Arrow: Down 18">
            <a:extLst>
              <a:ext uri="{FF2B5EF4-FFF2-40B4-BE49-F238E27FC236}">
                <a16:creationId xmlns:a16="http://schemas.microsoft.com/office/drawing/2014/main" id="{CF7F864B-AA2A-4F1A-8933-00DBF8072D86}"/>
              </a:ext>
            </a:extLst>
          </p:cNvPr>
          <p:cNvSpPr/>
          <p:nvPr/>
        </p:nvSpPr>
        <p:spPr>
          <a:xfrm>
            <a:off x="5968999" y="4197291"/>
            <a:ext cx="254000" cy="422811"/>
          </a:xfrm>
          <a:prstGeom prst="downArrow">
            <a:avLst/>
          </a:prstGeom>
          <a:solidFill>
            <a:schemeClr val="accent4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Arrow: Down 19">
            <a:extLst>
              <a:ext uri="{FF2B5EF4-FFF2-40B4-BE49-F238E27FC236}">
                <a16:creationId xmlns:a16="http://schemas.microsoft.com/office/drawing/2014/main" id="{33CB398D-F55C-4F3F-A17D-7D2D8F9C8615}"/>
              </a:ext>
            </a:extLst>
          </p:cNvPr>
          <p:cNvSpPr/>
          <p:nvPr/>
        </p:nvSpPr>
        <p:spPr>
          <a:xfrm>
            <a:off x="5972784" y="4993372"/>
            <a:ext cx="246430" cy="407533"/>
          </a:xfrm>
          <a:prstGeom prst="downArrow">
            <a:avLst/>
          </a:prstGeom>
          <a:solidFill>
            <a:schemeClr val="accent4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E6854829-AF85-4218-8393-2C934B41E2DF}"/>
              </a:ext>
            </a:extLst>
          </p:cNvPr>
          <p:cNvSpPr/>
          <p:nvPr/>
        </p:nvSpPr>
        <p:spPr>
          <a:xfrm>
            <a:off x="5968999" y="5774470"/>
            <a:ext cx="254000" cy="422811"/>
          </a:xfrm>
          <a:prstGeom prst="downArrow">
            <a:avLst/>
          </a:prstGeom>
          <a:solidFill>
            <a:schemeClr val="accent4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63454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9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22C7954-A276-44B5-83C7-8FB0D83EA7CC}"/>
              </a:ext>
            </a:extLst>
          </p:cNvPr>
          <p:cNvSpPr txBox="1"/>
          <p:nvPr/>
        </p:nvSpPr>
        <p:spPr>
          <a:xfrm>
            <a:off x="289367" y="405113"/>
            <a:ext cx="1130846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u="sng" dirty="0"/>
              <a:t>Datasets Collection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B89F4D5-D5D8-48D2-ADDD-212E87AD05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3899" y="1157468"/>
            <a:ext cx="5259686" cy="315988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943F35F-EA84-4634-86D6-ACD064B0EF01}"/>
              </a:ext>
            </a:extLst>
          </p:cNvPr>
          <p:cNvSpPr txBox="1"/>
          <p:nvPr/>
        </p:nvSpPr>
        <p:spPr>
          <a:xfrm>
            <a:off x="196770" y="1422363"/>
            <a:ext cx="6111433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q"/>
            </a:pPr>
            <a:r>
              <a:rPr lang="en-US" sz="2800" dirty="0"/>
              <a:t>We have collected some image from pedestrian video.</a:t>
            </a:r>
          </a:p>
          <a:p>
            <a:pPr marL="457200" indent="-457200">
              <a:buFont typeface="Wingdings" panose="05000000000000000000" pitchFamily="2" charset="2"/>
              <a:buChar char="q"/>
            </a:pPr>
            <a:r>
              <a:rPr lang="en-US" sz="2800" dirty="0"/>
              <a:t>And also downloaded datasets from internet</a:t>
            </a:r>
          </a:p>
          <a:p>
            <a:pPr marL="457200" indent="-457200">
              <a:buFont typeface="Wingdings" panose="05000000000000000000" pitchFamily="2" charset="2"/>
              <a:buChar char="q"/>
            </a:pPr>
            <a:r>
              <a:rPr lang="en-US" sz="2800" dirty="0"/>
              <a:t>There was total 814 images for our project.</a:t>
            </a:r>
          </a:p>
          <a:p>
            <a:endParaRPr lang="en-US" sz="2800" dirty="0"/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6949667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8768E74-EC5E-4330-AB8F-681F19655C69}"/>
              </a:ext>
            </a:extLst>
          </p:cNvPr>
          <p:cNvSpPr txBox="1"/>
          <p:nvPr/>
        </p:nvSpPr>
        <p:spPr>
          <a:xfrm>
            <a:off x="312516" y="370390"/>
            <a:ext cx="36691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u="sng" dirty="0"/>
              <a:t>Dataset Labeling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D2F962-2D09-4517-809B-4EA1C655D834}"/>
              </a:ext>
            </a:extLst>
          </p:cNvPr>
          <p:cNvSpPr txBox="1"/>
          <p:nvPr/>
        </p:nvSpPr>
        <p:spPr>
          <a:xfrm>
            <a:off x="179352" y="1707784"/>
            <a:ext cx="6283314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Wingdings" panose="05000000000000000000" pitchFamily="2" charset="2"/>
              <a:buChar char="q"/>
            </a:pPr>
            <a:r>
              <a:rPr lang="en-US" sz="2800" dirty="0"/>
              <a:t>We have used Image labeler app of MATLAB to label our images</a:t>
            </a:r>
          </a:p>
          <a:p>
            <a:pPr marL="571500" indent="-571500">
              <a:buFont typeface="Wingdings" panose="05000000000000000000" pitchFamily="2" charset="2"/>
              <a:buChar char="q"/>
            </a:pPr>
            <a:r>
              <a:rPr lang="en-US" sz="2800" dirty="0"/>
              <a:t>There was only single class , named “human”</a:t>
            </a:r>
          </a:p>
          <a:p>
            <a:pPr marL="571500" indent="-571500">
              <a:buFont typeface="Wingdings" panose="05000000000000000000" pitchFamily="2" charset="2"/>
              <a:buChar char="q"/>
            </a:pPr>
            <a:endParaRPr lang="en-US" sz="2800" dirty="0"/>
          </a:p>
          <a:p>
            <a:pPr marL="571500" indent="-571500">
              <a:buFont typeface="Wingdings" panose="05000000000000000000" pitchFamily="2" charset="2"/>
              <a:buChar char="q"/>
            </a:pPr>
            <a:r>
              <a:rPr lang="en-US" sz="2800" dirty="0"/>
              <a:t>After labeling , this labelled images were used as ground truth data for the model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FE7FE5-06D3-45C2-90E3-FBD56934F8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2124" y="1758659"/>
            <a:ext cx="5866778" cy="3437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99383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9EE9587-20B4-44B0-A571-6F43D0752A6F}"/>
              </a:ext>
            </a:extLst>
          </p:cNvPr>
          <p:cNvSpPr txBox="1"/>
          <p:nvPr/>
        </p:nvSpPr>
        <p:spPr>
          <a:xfrm>
            <a:off x="532435" y="381965"/>
            <a:ext cx="101972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u="sng" dirty="0"/>
              <a:t>Convolutional neural Network Architecture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867557-FC5F-4741-8595-F78F9F0CCEBF}"/>
              </a:ext>
            </a:extLst>
          </p:cNvPr>
          <p:cNvSpPr txBox="1"/>
          <p:nvPr/>
        </p:nvSpPr>
        <p:spPr>
          <a:xfrm>
            <a:off x="603682" y="1109709"/>
            <a:ext cx="6223246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400" dirty="0"/>
              <a:t>Base network is Darknet-53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400" dirty="0"/>
              <a:t>Image Input size = 256x256x3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400" dirty="0"/>
              <a:t>Feature extraction layer “res14”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400" dirty="0" err="1"/>
              <a:t>Num_Class</a:t>
            </a:r>
            <a:r>
              <a:rPr lang="en-US" sz="2400" dirty="0"/>
              <a:t>=1;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400" dirty="0" err="1"/>
              <a:t>Num_anchorbox</a:t>
            </a:r>
            <a:r>
              <a:rPr lang="en-US" sz="2400" dirty="0"/>
              <a:t>=1;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US" sz="2400" dirty="0"/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400" dirty="0"/>
              <a:t>14 residual block in base network.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400" dirty="0"/>
              <a:t>There is many number of convolution, batch normalization, and leaky </a:t>
            </a:r>
            <a:r>
              <a:rPr lang="en-US" sz="2400" dirty="0" err="1"/>
              <a:t>relu</a:t>
            </a:r>
            <a:r>
              <a:rPr lang="en-US" sz="2400" dirty="0"/>
              <a:t> layers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US" sz="2400" dirty="0"/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400" dirty="0"/>
              <a:t>Feature extraction is happening in the base network portion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AAD8C5-7AE2-442D-90A2-86507998C8C7}"/>
              </a:ext>
            </a:extLst>
          </p:cNvPr>
          <p:cNvSpPr txBox="1"/>
          <p:nvPr/>
        </p:nvSpPr>
        <p:spPr>
          <a:xfrm>
            <a:off x="8975324" y="677789"/>
            <a:ext cx="1606858" cy="6463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Input layer </a:t>
            </a:r>
          </a:p>
          <a:p>
            <a:pPr algn="ctr"/>
            <a:r>
              <a:rPr lang="en-US" dirty="0"/>
              <a:t>(256x256x3)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86FD0A-24A5-40EF-B98D-861500F4FF44}"/>
              </a:ext>
            </a:extLst>
          </p:cNvPr>
          <p:cNvSpPr txBox="1"/>
          <p:nvPr/>
        </p:nvSpPr>
        <p:spPr>
          <a:xfrm>
            <a:off x="8171895" y="1567841"/>
            <a:ext cx="3280299" cy="92333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 part of full Darknet53 network</a:t>
            </a:r>
          </a:p>
          <a:p>
            <a:pPr algn="ctr"/>
            <a:r>
              <a:rPr lang="en-US" dirty="0"/>
              <a:t>114 layers</a:t>
            </a:r>
          </a:p>
          <a:p>
            <a:pPr algn="ctr"/>
            <a:r>
              <a:rPr lang="en-US" dirty="0"/>
              <a:t>(dim: 16x16x512)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4039306-FE6C-46BC-8EB8-56D5FE34131C}"/>
              </a:ext>
            </a:extLst>
          </p:cNvPr>
          <p:cNvSpPr txBox="1"/>
          <p:nvPr/>
        </p:nvSpPr>
        <p:spPr>
          <a:xfrm>
            <a:off x="8171895" y="2805344"/>
            <a:ext cx="3338004" cy="92333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Yolov2 subnetwork</a:t>
            </a:r>
          </a:p>
          <a:p>
            <a:pPr algn="ctr"/>
            <a:r>
              <a:rPr lang="en-US" dirty="0"/>
              <a:t>8 layers</a:t>
            </a:r>
          </a:p>
          <a:p>
            <a:pPr algn="ctr"/>
            <a:r>
              <a:rPr lang="en-US" dirty="0"/>
              <a:t>(dim: 16x16x6)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2E3D83-8C77-4AC0-8441-760B93D6D7F0}"/>
              </a:ext>
            </a:extLst>
          </p:cNvPr>
          <p:cNvSpPr txBox="1"/>
          <p:nvPr/>
        </p:nvSpPr>
        <p:spPr>
          <a:xfrm>
            <a:off x="8229600" y="3934573"/>
            <a:ext cx="3222594" cy="369332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Yolov2 Output Layer</a:t>
            </a:r>
          </a:p>
        </p:txBody>
      </p:sp>
      <p:sp>
        <p:nvSpPr>
          <p:cNvPr id="12" name="Left Brace 11">
            <a:extLst>
              <a:ext uri="{FF2B5EF4-FFF2-40B4-BE49-F238E27FC236}">
                <a16:creationId xmlns:a16="http://schemas.microsoft.com/office/drawing/2014/main" id="{5E0B3E3E-60EE-4BE2-AB4C-230C98EFE330}"/>
              </a:ext>
            </a:extLst>
          </p:cNvPr>
          <p:cNvSpPr/>
          <p:nvPr/>
        </p:nvSpPr>
        <p:spPr>
          <a:xfrm>
            <a:off x="7634797" y="1671094"/>
            <a:ext cx="461638" cy="2627790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A4496B2-9303-4F14-88A4-CC17E915AA24}"/>
              </a:ext>
            </a:extLst>
          </p:cNvPr>
          <p:cNvSpPr txBox="1"/>
          <p:nvPr/>
        </p:nvSpPr>
        <p:spPr>
          <a:xfrm>
            <a:off x="6844684" y="2491171"/>
            <a:ext cx="79011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Total 123 Layers</a:t>
            </a:r>
          </a:p>
        </p:txBody>
      </p:sp>
    </p:spTree>
    <p:extLst>
      <p:ext uri="{BB962C8B-B14F-4D97-AF65-F5344CB8AC3E}">
        <p14:creationId xmlns:p14="http://schemas.microsoft.com/office/powerpoint/2010/main" val="38082087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1EB091D-E3E9-4D3F-B0C5-5845702064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2920" y="393945"/>
            <a:ext cx="2686050" cy="38862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917D140-50E7-4138-885E-7E3898A7A680}"/>
              </a:ext>
            </a:extLst>
          </p:cNvPr>
          <p:cNvSpPr txBox="1"/>
          <p:nvPr/>
        </p:nvSpPr>
        <p:spPr>
          <a:xfrm>
            <a:off x="622843" y="1408803"/>
            <a:ext cx="7013359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000" dirty="0"/>
              <a:t>In yolov2 subnetwork, there is only conv. and </a:t>
            </a:r>
            <a:r>
              <a:rPr lang="en-US" sz="2000" dirty="0" err="1"/>
              <a:t>relu</a:t>
            </a:r>
            <a:r>
              <a:rPr lang="en-US" sz="2000" dirty="0"/>
              <a:t> layer, last two layers are yolov2 transform layer and yolov2outputlayer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US" sz="2000" dirty="0"/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000" dirty="0"/>
              <a:t>The features are taken from “res14” layer of darknet53, and feeds to yolov2 layers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US" sz="2000" dirty="0"/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000" dirty="0"/>
              <a:t>In the subnetwork portion, yolov2 localize the object,  predict with bounding box .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en-US" sz="2000" dirty="0"/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en-US" sz="2000" dirty="0"/>
              <a:t>Finally we got an image with detected people with bounding boxes co- ordinate, obviously after training.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1A80A1-220F-43FC-A9A2-7E0D98A289EA}"/>
              </a:ext>
            </a:extLst>
          </p:cNvPr>
          <p:cNvSpPr txBox="1"/>
          <p:nvPr/>
        </p:nvSpPr>
        <p:spPr>
          <a:xfrm>
            <a:off x="720497" y="830580"/>
            <a:ext cx="41715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u="sng" dirty="0"/>
              <a:t>Yolov2 Subnetwork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84CE4E-1184-4838-B0BD-23DE851175CD}"/>
              </a:ext>
            </a:extLst>
          </p:cNvPr>
          <p:cNvSpPr/>
          <p:nvPr/>
        </p:nvSpPr>
        <p:spPr>
          <a:xfrm>
            <a:off x="8882552" y="477765"/>
            <a:ext cx="773393" cy="4716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E6879A-3DC6-4865-B9CE-CA187C0D3C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0735" y="5083243"/>
            <a:ext cx="8410575" cy="79057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7EC465C-38D4-4579-B97E-480D6820BCF2}"/>
              </a:ext>
            </a:extLst>
          </p:cNvPr>
          <p:cNvSpPr txBox="1"/>
          <p:nvPr/>
        </p:nvSpPr>
        <p:spPr>
          <a:xfrm>
            <a:off x="8829286" y="4363965"/>
            <a:ext cx="1828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Yolov2 subnetwork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78FBC0-9475-48B0-A004-7EA42CD52615}"/>
              </a:ext>
            </a:extLst>
          </p:cNvPr>
          <p:cNvSpPr txBox="1"/>
          <p:nvPr/>
        </p:nvSpPr>
        <p:spPr>
          <a:xfrm>
            <a:off x="7147485" y="5946765"/>
            <a:ext cx="4243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Creating yolov2 layers</a:t>
            </a:r>
          </a:p>
        </p:txBody>
      </p:sp>
    </p:spTree>
    <p:extLst>
      <p:ext uri="{BB962C8B-B14F-4D97-AF65-F5344CB8AC3E}">
        <p14:creationId xmlns:p14="http://schemas.microsoft.com/office/powerpoint/2010/main" val="15265003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0DAD1F4-4D6D-4AA5-ADDC-0AFDD9A3B010}"/>
              </a:ext>
            </a:extLst>
          </p:cNvPr>
          <p:cNvSpPr txBox="1"/>
          <p:nvPr/>
        </p:nvSpPr>
        <p:spPr>
          <a:xfrm>
            <a:off x="411480" y="708660"/>
            <a:ext cx="64922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u="sng" dirty="0"/>
              <a:t>Training the whole network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4EA4975-D405-417A-9078-E4F64EA88B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8635" y="913982"/>
            <a:ext cx="4838700" cy="200977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3856018-878C-4301-BD05-47B002370963}"/>
              </a:ext>
            </a:extLst>
          </p:cNvPr>
          <p:cNvSpPr txBox="1"/>
          <p:nvPr/>
        </p:nvSpPr>
        <p:spPr>
          <a:xfrm>
            <a:off x="449580" y="1918870"/>
            <a:ext cx="513588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/>
              <a:t>Training data: 730 images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/>
              <a:t>Validation data: 50 images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/>
              <a:t>Test data: 24 images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/>
              <a:t>Optimizer: ‘ADAM’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/>
              <a:t>Mini batch size = 16 images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/>
              <a:t>Total epochs =20;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dirty="0"/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dirty="0"/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dirty="0"/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/>
              <a:t>At first stage training, training loss was 0.3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/>
              <a:t>And validation loss was 0.5 ~ 0.6.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dirty="0"/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E14A77-1806-40D2-BF93-ABEFEAA8F02F}"/>
              </a:ext>
            </a:extLst>
          </p:cNvPr>
          <p:cNvSpPr txBox="1"/>
          <p:nvPr/>
        </p:nvSpPr>
        <p:spPr>
          <a:xfrm>
            <a:off x="411480" y="1454973"/>
            <a:ext cx="2240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1</a:t>
            </a:r>
            <a:r>
              <a:rPr lang="en-US" b="1" u="sng" baseline="30000" dirty="0"/>
              <a:t>st</a:t>
            </a:r>
            <a:r>
              <a:rPr lang="en-US" b="1" u="sng" dirty="0"/>
              <a:t> stage training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7B35B7E-0FC7-4C14-BB0A-68D694CE21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3993" y="4126229"/>
            <a:ext cx="7505700" cy="66675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7980E92-12B5-4500-A18C-54237BE3B227}"/>
              </a:ext>
            </a:extLst>
          </p:cNvPr>
          <p:cNvSpPr txBox="1"/>
          <p:nvPr/>
        </p:nvSpPr>
        <p:spPr>
          <a:xfrm>
            <a:off x="7849416" y="3073032"/>
            <a:ext cx="2395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Training options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C460CFB-C6DF-4614-8AE7-987C5C5EAC16}"/>
              </a:ext>
            </a:extLst>
          </p:cNvPr>
          <p:cNvSpPr txBox="1"/>
          <p:nvPr/>
        </p:nvSpPr>
        <p:spPr>
          <a:xfrm>
            <a:off x="7602320" y="4946450"/>
            <a:ext cx="3798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Training command</a:t>
            </a:r>
          </a:p>
        </p:txBody>
      </p:sp>
    </p:spTree>
    <p:extLst>
      <p:ext uri="{BB962C8B-B14F-4D97-AF65-F5344CB8AC3E}">
        <p14:creationId xmlns:p14="http://schemas.microsoft.com/office/powerpoint/2010/main" val="5183743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C71B365-6F77-45C0-B787-9586298E0B6B}"/>
              </a:ext>
            </a:extLst>
          </p:cNvPr>
          <p:cNvSpPr txBox="1"/>
          <p:nvPr/>
        </p:nvSpPr>
        <p:spPr>
          <a:xfrm>
            <a:off x="615667" y="2690336"/>
            <a:ext cx="513588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/>
              <a:t>Optimizer: ‘ADAM’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/>
              <a:t>Mini batch size = 16 images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/>
              <a:t>Total epochs =5;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/>
              <a:t>In this case loss was decreased slightly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/>
              <a:t>Finally , we got our detector.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/>
              <a:t>Which can be directly used for detect human in an image or video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6C9BAD5-0512-424B-A5B3-9A4DCF916303}"/>
              </a:ext>
            </a:extLst>
          </p:cNvPr>
          <p:cNvSpPr txBox="1"/>
          <p:nvPr/>
        </p:nvSpPr>
        <p:spPr>
          <a:xfrm>
            <a:off x="544646" y="2139591"/>
            <a:ext cx="2240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2</a:t>
            </a:r>
            <a:r>
              <a:rPr lang="en-US" b="1" u="sng" baseline="30000" dirty="0"/>
              <a:t>nd</a:t>
            </a:r>
            <a:r>
              <a:rPr lang="en-US" b="1" u="sng" dirty="0"/>
              <a:t> stage training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C3550B-A0E2-4ED1-8EF4-810348099B41}"/>
              </a:ext>
            </a:extLst>
          </p:cNvPr>
          <p:cNvSpPr txBox="1"/>
          <p:nvPr/>
        </p:nvSpPr>
        <p:spPr>
          <a:xfrm>
            <a:off x="411480" y="708660"/>
            <a:ext cx="64922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u="sng" dirty="0"/>
              <a:t>Training the whole network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AE8A08-381B-4941-94EC-DFBC16BA5DFE}"/>
              </a:ext>
            </a:extLst>
          </p:cNvPr>
          <p:cNvSpPr txBox="1"/>
          <p:nvPr/>
        </p:nvSpPr>
        <p:spPr>
          <a:xfrm>
            <a:off x="411480" y="1553592"/>
            <a:ext cx="64154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 more improvement, we have trained the detector again 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7D05C2C-E26B-44C5-A495-DCCC2845B13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41020"/>
          <a:stretch/>
        </p:blipFill>
        <p:spPr>
          <a:xfrm>
            <a:off x="6440455" y="603711"/>
            <a:ext cx="5327333" cy="26384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F325F6D-29DC-4D61-8CD7-B13D105C8B8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575" r="4085"/>
          <a:stretch/>
        </p:blipFill>
        <p:spPr>
          <a:xfrm>
            <a:off x="5379868" y="3625403"/>
            <a:ext cx="6636465" cy="86677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EC56283-9FB7-46A3-8359-DB25D9657BE1}"/>
              </a:ext>
            </a:extLst>
          </p:cNvPr>
          <p:cNvSpPr txBox="1"/>
          <p:nvPr/>
        </p:nvSpPr>
        <p:spPr>
          <a:xfrm>
            <a:off x="8209368" y="2986181"/>
            <a:ext cx="2395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Training options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F7EC05-94A0-4172-986D-48835CB8D9EA}"/>
              </a:ext>
            </a:extLst>
          </p:cNvPr>
          <p:cNvSpPr txBox="1"/>
          <p:nvPr/>
        </p:nvSpPr>
        <p:spPr>
          <a:xfrm>
            <a:off x="7778246" y="4597933"/>
            <a:ext cx="3798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2</a:t>
            </a:r>
            <a:r>
              <a:rPr lang="en-US" b="1" baseline="30000" dirty="0"/>
              <a:t>nd</a:t>
            </a:r>
            <a:r>
              <a:rPr lang="en-US" b="1" dirty="0"/>
              <a:t> stage training command</a:t>
            </a:r>
          </a:p>
        </p:txBody>
      </p:sp>
    </p:spTree>
    <p:extLst>
      <p:ext uri="{BB962C8B-B14F-4D97-AF65-F5344CB8AC3E}">
        <p14:creationId xmlns:p14="http://schemas.microsoft.com/office/powerpoint/2010/main" val="383676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5AE95D9-72B8-4FC8-88F6-B0AF12F806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306" y="567720"/>
            <a:ext cx="11545388" cy="572255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EC1D9CE-EA15-4BCA-891C-FD2944367FA7}"/>
              </a:ext>
            </a:extLst>
          </p:cNvPr>
          <p:cNvSpPr txBox="1"/>
          <p:nvPr/>
        </p:nvSpPr>
        <p:spPr>
          <a:xfrm>
            <a:off x="5021802" y="106055"/>
            <a:ext cx="21483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u="sng" dirty="0"/>
              <a:t>Training Curve</a:t>
            </a:r>
          </a:p>
        </p:txBody>
      </p:sp>
    </p:spTree>
    <p:extLst>
      <p:ext uri="{BB962C8B-B14F-4D97-AF65-F5344CB8AC3E}">
        <p14:creationId xmlns:p14="http://schemas.microsoft.com/office/powerpoint/2010/main" val="15476688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5CC81E6-0C04-45E4-A089-079A3276E324}"/>
              </a:ext>
            </a:extLst>
          </p:cNvPr>
          <p:cNvSpPr txBox="1"/>
          <p:nvPr/>
        </p:nvSpPr>
        <p:spPr>
          <a:xfrm>
            <a:off x="807868" y="301841"/>
            <a:ext cx="25922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u="sng" dirty="0"/>
              <a:t>Detection</a:t>
            </a:r>
            <a:endParaRPr lang="en-US" b="1" u="sn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08CF9E-65DE-4C99-98E9-C5229A9532D5}"/>
              </a:ext>
            </a:extLst>
          </p:cNvPr>
          <p:cNvSpPr txBox="1"/>
          <p:nvPr/>
        </p:nvSpPr>
        <p:spPr>
          <a:xfrm>
            <a:off x="497150" y="1207363"/>
            <a:ext cx="569058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detector is able to detect persons from images</a:t>
            </a:r>
          </a:p>
          <a:p>
            <a:r>
              <a:rPr lang="en-US" dirty="0"/>
              <a:t>Both man, woman, children also.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316B36E-7BDD-4BE6-852E-54916167CB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4180" y="1339966"/>
            <a:ext cx="4057651" cy="323373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B61F7E3-33B3-4A09-94A5-DA3647115E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930" y="2726016"/>
            <a:ext cx="5424810" cy="158905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0A3DFDD-201C-4AF8-8E37-E09916D48E0C}"/>
              </a:ext>
            </a:extLst>
          </p:cNvPr>
          <p:cNvSpPr txBox="1"/>
          <p:nvPr/>
        </p:nvSpPr>
        <p:spPr>
          <a:xfrm>
            <a:off x="878889" y="2257264"/>
            <a:ext cx="2681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Command for detection</a:t>
            </a:r>
          </a:p>
        </p:txBody>
      </p:sp>
    </p:spTree>
    <p:extLst>
      <p:ext uri="{BB962C8B-B14F-4D97-AF65-F5344CB8AC3E}">
        <p14:creationId xmlns:p14="http://schemas.microsoft.com/office/powerpoint/2010/main" val="14672378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F89498-A00D-464B-832B-C0BE76B519A2}"/>
              </a:ext>
            </a:extLst>
          </p:cNvPr>
          <p:cNvSpPr txBox="1"/>
          <p:nvPr/>
        </p:nvSpPr>
        <p:spPr>
          <a:xfrm>
            <a:off x="399494" y="292963"/>
            <a:ext cx="93037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u="sng" dirty="0"/>
              <a:t>Determining the distance and marking as people safe or alert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43C0BC-C0BE-435D-B059-00933AA8ED43}"/>
              </a:ext>
            </a:extLst>
          </p:cNvPr>
          <p:cNvSpPr txBox="1"/>
          <p:nvPr/>
        </p:nvSpPr>
        <p:spPr>
          <a:xfrm>
            <a:off x="292963" y="1127464"/>
            <a:ext cx="6241002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2000" dirty="0"/>
              <a:t>Firstly detects all humans from image, with bounding box coordinate,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2000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2000" dirty="0"/>
              <a:t>Then , determines the center of all bounding box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2000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2000" dirty="0"/>
              <a:t>Next, determine the distance between all centers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2000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2000" dirty="0"/>
              <a:t>If any distance crossed the threshold distance, the bounding box will be shown in red color, which means “alert signal”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2000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2000" dirty="0"/>
              <a:t>Otherwise, the bounding box will be shown as green color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US" sz="2000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2000" dirty="0"/>
              <a:t>We can calibrate the threshold distance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7D99D5-389B-4702-8050-80079658DC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7083" y="1355793"/>
            <a:ext cx="5521954" cy="398412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559036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</TotalTime>
  <Words>595</Words>
  <Application>Microsoft Office PowerPoint</Application>
  <PresentationFormat>Widescreen</PresentationFormat>
  <Paragraphs>108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Aharoni</vt:lpstr>
      <vt:lpstr>Arial</vt:lpstr>
      <vt:lpstr>Barlow Condensed SemiBold</vt:lpstr>
      <vt:lpstr>Calibri</vt:lpstr>
      <vt:lpstr>Calibri Light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1706149 - Sanath Kumar Das</dc:creator>
  <cp:lastModifiedBy>Saha, Joy</cp:lastModifiedBy>
  <cp:revision>13</cp:revision>
  <dcterms:created xsi:type="dcterms:W3CDTF">2021-07-27T08:36:33Z</dcterms:created>
  <dcterms:modified xsi:type="dcterms:W3CDTF">2025-12-25T01:04:14Z</dcterms:modified>
</cp:coreProperties>
</file>